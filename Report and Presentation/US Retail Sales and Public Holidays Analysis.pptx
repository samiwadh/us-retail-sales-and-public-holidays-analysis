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9" r:id="rId2"/>
    <p:sldId id="263" r:id="rId3"/>
    <p:sldId id="257" r:id="rId4"/>
    <p:sldId id="264" r:id="rId5"/>
    <p:sldId id="258" r:id="rId6"/>
    <p:sldId id="259" r:id="rId7"/>
    <p:sldId id="260" r:id="rId8"/>
    <p:sldId id="261" r:id="rId9"/>
    <p:sldId id="262" r:id="rId10"/>
    <p:sldId id="265" r:id="rId11"/>
    <p:sldId id="267" r:id="rId12"/>
    <p:sldId id="266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DAF7F-70CA-46C9-BC54-7AD5DAC3E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51790D-1AF2-4090-A44A-BB83150466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C534E-3427-46B6-AD85-D62FE9B4E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5375-8428-4209-994E-A336BB773D6B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FDE63D-D3AD-480D-8646-09F6E00C8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DBD9A7-AAE4-4C1E-BB36-776C43AD9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63602-605A-49C0-A9FD-08A8FAD21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10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632DF-3683-4BC2-AC67-3CD127BDD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A0F8F9-8ED5-45FA-806C-938CCFA62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09F258-D27A-4821-B255-55632CD49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5375-8428-4209-994E-A336BB773D6B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22EAB-24F2-40A0-967F-0608A7519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11CAA0-FDFD-4C4D-AC37-B48B8E145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63602-605A-49C0-A9FD-08A8FAD21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708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A85D2-24ED-464A-8D3E-49F14A64B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7C5EE7-8344-414B-91C2-3D4A08F05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BB6202-76C9-4E15-89A6-DF453A342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5375-8428-4209-994E-A336BB773D6B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E9481-E7BE-4339-947C-992347EAD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71348-AA36-4857-B84F-4E084CD20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63602-605A-49C0-A9FD-08A8FAD21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110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47C5A-A60D-4820-A911-6EA3FA4FA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40A0D9-5A56-42A8-927A-136B6D7298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92F469-3F71-4841-9C40-28C36FBF9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FF6402-1258-4F14-B01B-7E35E2BE3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5375-8428-4209-994E-A336BB773D6B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FD694-8642-43EB-A065-56E18BDB4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661D7A-7D7B-4594-8512-92BBF99FD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63602-605A-49C0-A9FD-08A8FAD21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626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C1056-E26D-4943-9C02-C66A8D99E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AA480-D2C8-4751-AA19-C8433016E4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AA6AD4-A0E5-4A29-A374-0433BC76CF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2D176-2D68-4B3C-9C53-C6E2A454BD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BA17B8-2EE8-4CF0-92CD-D0677FFA25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DD1F97-13B9-450D-BD10-F160864FC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5375-8428-4209-994E-A336BB773D6B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BF9727-73D1-495E-A906-C94ED578B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B8E5C2-DC70-46C3-A74B-B4F2B7B16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63602-605A-49C0-A9FD-08A8FAD21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89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2E701-A686-4393-BC4F-B0A252AF2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358DD-F53B-4C40-827C-581EAE35E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5375-8428-4209-994E-A336BB773D6B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C3D14A-F699-44CD-9E76-44F9FFBC7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C2CA40-F11A-4C2B-B4B7-9560315F5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63602-605A-49C0-A9FD-08A8FAD21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441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77F264-E207-46E9-94F5-E800F6816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5375-8428-4209-994E-A336BB773D6B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18E86B-6F1F-4243-ADA8-A4EC20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A4C4A-C93D-42C5-A8C3-2EE42299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63602-605A-49C0-A9FD-08A8FAD21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70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E8C37-237E-4940-9390-0295874CC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5F14AB-88DC-49CD-901C-C504E315A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71B925-207F-4F6B-8011-C06D79E225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1E4DD-6483-471D-85FA-ACC619809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5375-8428-4209-994E-A336BB773D6B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E593F3-1F7B-4B90-9EAD-23FEF868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9C2BD6-54C9-49F4-8FA5-54B20214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63602-605A-49C0-A9FD-08A8FAD21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799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54290-1E42-4D1C-BC1F-5FF93A63D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6B77CD-B6CE-4DC0-925C-3E1BAC4982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806897-1DDE-4AD2-8AAE-5C06BC0CB6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197D5-6393-4B19-960A-4FE8E9E40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5375-8428-4209-994E-A336BB773D6B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E35F46-3159-4F81-8010-99FBA9EC5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D1196A-E6C5-44BF-8640-525A3E02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63602-605A-49C0-A9FD-08A8FAD21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991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E36C2-845E-43A6-B949-0599E07C8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0D6DC8-00F4-4FA0-BCCA-7DBB8E56C6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2323E9-EA3D-48A4-A61C-3449D2A5C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5375-8428-4209-994E-A336BB773D6B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DA8E9-FFCA-483C-96A9-D3593A2E3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152DA-6126-4A40-AA3D-7A92D6297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63602-605A-49C0-A9FD-08A8FAD21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572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91384-9B80-4183-ABC3-30027FC788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0F1DB-E6A0-4866-B047-04C1CA6EF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78358-3A9F-48D3-81BC-28DBFAE18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5375-8428-4209-994E-A336BB773D6B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549CA-4163-4CD3-AF89-867C23E61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9F64C-B18B-4169-AF41-DA107B9E9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63602-605A-49C0-A9FD-08A8FAD21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357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42C594-563B-4F83-BCFD-34A72052A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155FFC-C157-482A-81EE-DE7BFE174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8CD59-01FE-4E92-B57C-186B9D0175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375375-8428-4209-994E-A336BB773D6B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80CBC3-3FA3-4CC2-8F59-A43FF56E56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49D280-8020-4F3A-AD91-EA1B782FF5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763602-605A-49C0-A9FD-08A8FAD21C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565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hyperlink" Target="https://date.nager.at/api/v3/PublicHolidays/2014/u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A7A42CB-4AD9-4D8E-9925-36F6292A868D}"/>
              </a:ext>
            </a:extLst>
          </p:cNvPr>
          <p:cNvSpPr/>
          <p:nvPr/>
        </p:nvSpPr>
        <p:spPr>
          <a:xfrm>
            <a:off x="7114794" y="864055"/>
            <a:ext cx="4619708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tx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US Retail Sales &amp; Public Holidays Analysis</a:t>
            </a:r>
          </a:p>
          <a:p>
            <a:pPr algn="ctr"/>
            <a:r>
              <a:rPr lang="en-US" sz="4000" b="1" dirty="0">
                <a:solidFill>
                  <a:schemeClr val="tx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2014-2017</a:t>
            </a:r>
            <a:endParaRPr lang="en-US" sz="4000" b="1" dirty="0">
              <a:solidFill>
                <a:schemeClr val="tx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B61893-DCA4-4328-B2E2-685F0184D969}"/>
              </a:ext>
            </a:extLst>
          </p:cNvPr>
          <p:cNvSpPr/>
          <p:nvPr/>
        </p:nvSpPr>
        <p:spPr>
          <a:xfrm>
            <a:off x="8002816" y="4098771"/>
            <a:ext cx="327628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b="1" dirty="0">
                <a:solidFill>
                  <a:schemeClr val="tx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Data Management Project </a:t>
            </a:r>
          </a:p>
          <a:p>
            <a:pPr algn="ctr"/>
            <a:r>
              <a:rPr lang="en-US" sz="2000" b="1" dirty="0">
                <a:solidFill>
                  <a:schemeClr val="tx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February 10, 2026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344A30-AE82-409B-BACF-048A4A8311E0}"/>
              </a:ext>
            </a:extLst>
          </p:cNvPr>
          <p:cNvSpPr/>
          <p:nvPr/>
        </p:nvSpPr>
        <p:spPr>
          <a:xfrm>
            <a:off x="7950152" y="5776218"/>
            <a:ext cx="332894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tx2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Abdul Sami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8C7581-EC67-4649-B470-D9AAECDA91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10" y="137652"/>
            <a:ext cx="6858000" cy="6561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24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078B3-1985-4C75-91E0-26EF3A7E1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918" y="428500"/>
            <a:ext cx="5101424" cy="1325563"/>
          </a:xfrm>
        </p:spPr>
        <p:txBody>
          <a:bodyPr/>
          <a:lstStyle/>
          <a:p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Project Overview &amp; Objectives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5AA07-DD11-4D6A-BE18-D6A47C4D9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730" y="1952846"/>
            <a:ext cx="5257799" cy="4351338"/>
          </a:xfrm>
        </p:spPr>
        <p:txBody>
          <a:bodyPr>
            <a:normAutofit fontScale="92500"/>
          </a:bodyPr>
          <a:lstStyle/>
          <a:p>
            <a:pPr marL="57150" lvl="0" indent="-285750" fontAlgn="base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Executive Summary:</a:t>
            </a:r>
            <a:br>
              <a:rPr lang="en-US" dirty="0"/>
            </a:br>
            <a:r>
              <a:rPr lang="en-US" sz="1400" dirty="0">
                <a:latin typeface="Cambria" panose="02040503050406030204" pitchFamily="18" charset="0"/>
                <a:ea typeface="Cambria" panose="02040503050406030204" pitchFamily="18" charset="0"/>
              </a:rPr>
              <a:t>Analysis of 9,994 retail orders (2014–2017) integrated with official US public holiday data from the </a:t>
            </a:r>
            <a:r>
              <a:rPr lang="en-US" sz="1400" dirty="0" err="1">
                <a:latin typeface="Cambria" panose="02040503050406030204" pitchFamily="18" charset="0"/>
                <a:ea typeface="Cambria" panose="02040503050406030204" pitchFamily="18" charset="0"/>
              </a:rPr>
              <a:t>Nager.Date</a:t>
            </a:r>
            <a:r>
              <a:rPr lang="en-US" sz="1400" dirty="0">
                <a:latin typeface="Cambria" panose="02040503050406030204" pitchFamily="18" charset="0"/>
                <a:ea typeface="Cambria" panose="02040503050406030204" pitchFamily="18" charset="0"/>
              </a:rPr>
              <a:t> API. The study examines how public holidays influence daily e-commerce order volumes and whether holiday information improves predictive forecasting.</a:t>
            </a:r>
          </a:p>
          <a:p>
            <a:pPr marL="0" lvl="0" indent="0" fontAlgn="base">
              <a:spcBef>
                <a:spcPct val="0"/>
              </a:spcBef>
              <a:spcAft>
                <a:spcPts val="600"/>
              </a:spcAft>
              <a:buNone/>
            </a:pP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57150" lvl="0" indent="-285750" fontAlgn="base">
              <a:spcBef>
                <a:spcPct val="0"/>
              </a:spcBef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en-US" sz="1600" b="1" dirty="0">
                <a:latin typeface="Cambria" panose="02040503050406030204" pitchFamily="18" charset="0"/>
                <a:ea typeface="Cambria" panose="02040503050406030204" pitchFamily="18" charset="0"/>
              </a:rPr>
              <a:t>Primary Objective:</a:t>
            </a:r>
            <a:br>
              <a:rPr lang="en-US" dirty="0"/>
            </a:br>
            <a:r>
              <a:rPr lang="en-US" sz="1400" dirty="0">
                <a:latin typeface="Cambria" panose="02040503050406030204" pitchFamily="18" charset="0"/>
                <a:ea typeface="Cambria" panose="02040503050406030204" pitchFamily="18" charset="0"/>
              </a:rPr>
              <a:t>To quantify how public holidays affect retail order behavior and assess their value in predictive modeling of daily sales.</a:t>
            </a:r>
          </a:p>
          <a:p>
            <a:pPr marL="0" lvl="0" fontAlgn="base">
              <a:spcBef>
                <a:spcPct val="0"/>
              </a:spcBef>
              <a:spcAft>
                <a:spcPts val="600"/>
              </a:spcAft>
            </a:pP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sz="1400" b="1" dirty="0">
                <a:latin typeface="Cambria" panose="02040503050406030204" pitchFamily="18" charset="0"/>
                <a:ea typeface="Cambria" panose="02040503050406030204" pitchFamily="18" charset="0"/>
              </a:rPr>
              <a:t>Key Research Questions: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Cambria" panose="02040503050406030204" pitchFamily="18" charset="0"/>
                <a:ea typeface="Cambria" panose="02040503050406030204" pitchFamily="18" charset="0"/>
              </a:rPr>
              <a:t>RQ1:</a:t>
            </a:r>
            <a:r>
              <a:rPr lang="en-US" sz="1400" dirty="0">
                <a:latin typeface="Cambria" panose="02040503050406030204" pitchFamily="18" charset="0"/>
                <a:ea typeface="Cambria" panose="02040503050406030204" pitchFamily="18" charset="0"/>
              </a:rPr>
              <a:t> Do public holidays significantly affect daily e-commerce sales?</a:t>
            </a:r>
          </a:p>
          <a:p>
            <a:pPr marL="0" indent="0">
              <a:buNone/>
            </a:pPr>
            <a:r>
              <a:rPr lang="en-US" sz="1400" b="1" dirty="0">
                <a:latin typeface="Cambria" panose="02040503050406030204" pitchFamily="18" charset="0"/>
                <a:ea typeface="Cambria" panose="02040503050406030204" pitchFamily="18" charset="0"/>
              </a:rPr>
              <a:t>RQ2:</a:t>
            </a:r>
            <a:r>
              <a:rPr lang="en-US" sz="1400" dirty="0">
                <a:latin typeface="Cambria" panose="02040503050406030204" pitchFamily="18" charset="0"/>
                <a:ea typeface="Cambria" panose="02040503050406030204" pitchFamily="18" charset="0"/>
              </a:rPr>
              <a:t> Are order volumes higher on holidays compared to non-holidays?</a:t>
            </a:r>
          </a:p>
          <a:p>
            <a:pPr marL="0" indent="0">
              <a:buNone/>
            </a:pPr>
            <a:r>
              <a:rPr lang="en-US" sz="1400" b="1" dirty="0">
                <a:latin typeface="Cambria" panose="02040503050406030204" pitchFamily="18" charset="0"/>
                <a:ea typeface="Cambria" panose="02040503050406030204" pitchFamily="18" charset="0"/>
              </a:rPr>
              <a:t>RQ3:</a:t>
            </a:r>
            <a:r>
              <a:rPr lang="en-US" sz="1400" dirty="0">
                <a:latin typeface="Cambria" panose="02040503050406030204" pitchFamily="18" charset="0"/>
                <a:ea typeface="Cambria" panose="02040503050406030204" pitchFamily="18" charset="0"/>
              </a:rPr>
              <a:t> Which US holidays have the greatest impact on ordering patterns?</a:t>
            </a:r>
          </a:p>
          <a:p>
            <a:pPr marL="0" indent="0">
              <a:buNone/>
            </a:pPr>
            <a:r>
              <a:rPr lang="en-US" sz="1400" b="1" dirty="0">
                <a:latin typeface="Cambria" panose="02040503050406030204" pitchFamily="18" charset="0"/>
                <a:ea typeface="Cambria" panose="02040503050406030204" pitchFamily="18" charset="0"/>
              </a:rPr>
              <a:t>RQ4:</a:t>
            </a:r>
            <a:r>
              <a:rPr lang="en-US" sz="1400" dirty="0">
                <a:latin typeface="Cambria" panose="02040503050406030204" pitchFamily="18" charset="0"/>
                <a:ea typeface="Cambria" panose="02040503050406030204" pitchFamily="18" charset="0"/>
              </a:rPr>
              <a:t> Does including holiday information improve prediction of daily order volumes?</a:t>
            </a:r>
          </a:p>
          <a:p>
            <a:pPr marL="0" lvl="0" indent="0" fontAlgn="base">
              <a:spcBef>
                <a:spcPct val="0"/>
              </a:spcBef>
              <a:spcAft>
                <a:spcPts val="600"/>
              </a:spcAft>
              <a:buNone/>
            </a:pP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7BB860-7A05-48B2-8A28-6F6470D2C9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15331"/>
            <a:ext cx="5959973" cy="6627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928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F3587-F1F6-4B1D-A8EC-93F393BD7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369" y="522011"/>
            <a:ext cx="10515600" cy="1325563"/>
          </a:xfrm>
        </p:spPr>
        <p:txBody>
          <a:bodyPr/>
          <a:lstStyle/>
          <a:p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Data Acquisition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EFD30-0D44-4F76-AFC8-6884950C3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9804" y="1984651"/>
            <a:ext cx="5761383" cy="4351338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1900" b="1" dirty="0">
                <a:latin typeface="Cambria" panose="02040503050406030204" pitchFamily="18" charset="0"/>
                <a:ea typeface="Cambria" panose="02040503050406030204" pitchFamily="18" charset="0"/>
              </a:rPr>
              <a:t>Retail Orders Data:</a:t>
            </a:r>
            <a:endParaRPr lang="en-US" sz="19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1500" dirty="0">
                <a:latin typeface="Cambria" panose="02040503050406030204" pitchFamily="18" charset="0"/>
                <a:ea typeface="Cambria" panose="02040503050406030204" pitchFamily="18" charset="0"/>
              </a:rPr>
              <a:t>Four yearly datasets (2014–2017) originally in Excel, later converted to CSV and merged.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500" dirty="0">
                <a:latin typeface="Cambria" panose="02040503050406030204" pitchFamily="18" charset="0"/>
                <a:ea typeface="Cambria" panose="02040503050406030204" pitchFamily="18" charset="0"/>
              </a:rPr>
              <a:t>Key fields: Order ID, Order Date, Customer ID, Product ID, Sales, Quantity.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500" dirty="0">
                <a:latin typeface="Cambria" panose="02040503050406030204" pitchFamily="18" charset="0"/>
                <a:ea typeface="Cambria" panose="02040503050406030204" pitchFamily="18" charset="0"/>
              </a:rPr>
              <a:t>Initial scale: 9,994 records.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altLang="en-US" sz="1900" b="1" dirty="0">
                <a:latin typeface="Cambria" panose="02040503050406030204" pitchFamily="18" charset="0"/>
                <a:ea typeface="Cambria" panose="02040503050406030204" pitchFamily="18" charset="0"/>
              </a:rPr>
              <a:t>Public Holiday Data: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altLang="en-US" sz="1500" dirty="0">
                <a:latin typeface="Cambria" panose="02040503050406030204" pitchFamily="18" charset="0"/>
                <a:ea typeface="Cambria" panose="02040503050406030204" pitchFamily="18" charset="0"/>
              </a:rPr>
              <a:t>Retrieved via the </a:t>
            </a:r>
            <a:r>
              <a:rPr lang="en-US" altLang="en-US" sz="1500" b="1" dirty="0" err="1">
                <a:latin typeface="Cambria" panose="02040503050406030204" pitchFamily="18" charset="0"/>
                <a:ea typeface="Cambria" panose="02040503050406030204" pitchFamily="18" charset="0"/>
              </a:rPr>
              <a:t>Nager.Date</a:t>
            </a:r>
            <a:r>
              <a:rPr lang="en-US" altLang="en-US" sz="1500" b="1" dirty="0">
                <a:latin typeface="Cambria" panose="02040503050406030204" pitchFamily="18" charset="0"/>
                <a:ea typeface="Cambria" panose="02040503050406030204" pitchFamily="18" charset="0"/>
              </a:rPr>
              <a:t> API</a:t>
            </a:r>
            <a:r>
              <a:rPr lang="en-US" altLang="en-US" sz="1500" dirty="0">
                <a:latin typeface="Cambria" panose="02040503050406030204" pitchFamily="18" charset="0"/>
                <a:ea typeface="Cambria" panose="02040503050406030204" pitchFamily="18" charset="0"/>
              </a:rPr>
              <a:t> for 2014–2017 (four separate endpoints).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altLang="en-US" sz="1500" dirty="0">
                <a:latin typeface="Cambria" panose="02040503050406030204" pitchFamily="18" charset="0"/>
                <a:ea typeface="Cambria" panose="02040503050406030204" pitchFamily="18" charset="0"/>
              </a:rPr>
              <a:t>Fields used: 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date, name, 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countryCode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(US).</a:t>
            </a:r>
            <a:endParaRPr lang="en-US" alt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altLang="en-US" sz="1500" dirty="0">
                <a:latin typeface="Cambria" panose="02040503050406030204" pitchFamily="18" charset="0"/>
                <a:ea typeface="Cambria" panose="02040503050406030204" pitchFamily="18" charset="0"/>
              </a:rPr>
              <a:t>Combined into a single dataset after extraction.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sz="1900" b="1" dirty="0">
                <a:latin typeface="Cambria" panose="02040503050406030204" pitchFamily="18" charset="0"/>
                <a:ea typeface="Cambria" panose="02040503050406030204" pitchFamily="18" charset="0"/>
              </a:rPr>
              <a:t>Processing Environment:</a:t>
            </a:r>
            <a:endParaRPr lang="en-US" sz="19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1500" dirty="0">
                <a:latin typeface="Cambria" panose="02040503050406030204" pitchFamily="18" charset="0"/>
                <a:ea typeface="Cambria" panose="02040503050406030204" pitchFamily="18" charset="0"/>
              </a:rPr>
              <a:t>All data processing and analysis conducted in Python using </a:t>
            </a:r>
            <a:r>
              <a:rPr lang="en-US" sz="1500" dirty="0" err="1">
                <a:latin typeface="Cambria" panose="02040503050406030204" pitchFamily="18" charset="0"/>
                <a:ea typeface="Cambria" panose="02040503050406030204" pitchFamily="18" charset="0"/>
              </a:rPr>
              <a:t>Jupyter</a:t>
            </a:r>
            <a:r>
              <a:rPr lang="en-US" sz="1500" dirty="0">
                <a:latin typeface="Cambria" panose="02040503050406030204" pitchFamily="18" charset="0"/>
                <a:ea typeface="Cambria" panose="02040503050406030204" pitchFamily="18" charset="0"/>
              </a:rPr>
              <a:t> Notebooks.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D2E3D72-73A5-413F-8EDB-FCE286BBF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0815" y="103826"/>
            <a:ext cx="5838908" cy="6611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379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7DEE4-F51C-4E97-9294-02A6D712F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689" y="754739"/>
            <a:ext cx="5104738" cy="1325563"/>
          </a:xfrm>
        </p:spPr>
        <p:txBody>
          <a:bodyPr>
            <a:normAutofit fontScale="90000"/>
          </a:bodyPr>
          <a:lstStyle/>
          <a:p>
            <a:r>
              <a:rPr lang="en-US" altLang="en-US" b="1" dirty="0">
                <a:latin typeface="Cambria" panose="02040503050406030204" pitchFamily="18" charset="0"/>
                <a:ea typeface="Cambria" panose="02040503050406030204" pitchFamily="18" charset="0"/>
              </a:rPr>
              <a:t>Data Profiling &amp; Quality Assessment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65D4FE0-2D88-4230-95B5-B36CA066016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6538" y="2197229"/>
            <a:ext cx="4931539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Retail Orders Dataset: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9,994 total records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0 missing values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0 duplicate records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Public Holidays Dataset: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60 unique holiday dates initially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0 missing values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8 duplicate dates detected (13.33%)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Quality Dimensions Assessed: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Completeness: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Checked using .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isnull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().sum()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Uniqueness: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Verified using .duplicated().sum()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Validity: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Ensured correct data types using .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dtypes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and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pd.to_datetime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()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Consistency: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Ensured alignment between Order Date and Holiday Date for integration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6AC115-822D-4F31-87E4-1DFCA47C7F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86917"/>
            <a:ext cx="5959084" cy="6638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726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DD11D-D3BC-41F3-AD2E-8830C2D54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833" y="333955"/>
            <a:ext cx="5241814" cy="1595272"/>
          </a:xfrm>
        </p:spPr>
        <p:txBody>
          <a:bodyPr>
            <a:normAutofit fontScale="90000"/>
          </a:bodyPr>
          <a:lstStyle/>
          <a:p>
            <a:r>
              <a:rPr lang="en-US" altLang="en-US" b="1" dirty="0">
                <a:latin typeface="Cambria" panose="02040503050406030204" pitchFamily="18" charset="0"/>
                <a:ea typeface="Cambria" panose="02040503050406030204" pitchFamily="18" charset="0"/>
              </a:rPr>
              <a:t>Data Cleaning &amp; Quality Improvement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485B8C5-6623-4FE8-8D8D-A9452880BA3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1224" y="2432415"/>
            <a:ext cx="5101423" cy="36625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File Consolidation: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Four yearly (2013-2017) retail files merged into one dataset (9,994 rows).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Four holiday API responses combined into a single CSV.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Duplicate Handling &amp; Missing Values: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Retail Orders: No duplicates, no missing values.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Public Holidays: 8 duplicate dates removed → 52 unique holiday dates.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Data Standardization: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Converted all dates to datetime64[ns].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Created a binary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IsHoliday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column for standardized labeling.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Renamed columns for consistency (e.g., date → Holiday Date).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960706-0FA1-408C-B92D-55BB59B2FD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78658"/>
            <a:ext cx="6009220" cy="669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576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A441B-0304-4D59-ACEB-EE81B4DE3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073" y="321243"/>
            <a:ext cx="5395623" cy="1325563"/>
          </a:xfrm>
        </p:spPr>
        <p:txBody>
          <a:bodyPr>
            <a:normAutofit/>
          </a:bodyPr>
          <a:lstStyle/>
          <a:p>
            <a:r>
              <a:rPr lang="en-US" altLang="en-US" b="1" dirty="0">
                <a:latin typeface="Cambria" panose="02040503050406030204" pitchFamily="18" charset="0"/>
                <a:ea typeface="Cambria" panose="02040503050406030204" pitchFamily="18" charset="0"/>
              </a:rPr>
              <a:t>Data Integration &amp; Storage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4E0908-7F12-40D3-A675-20B2895CA0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69074" y="1646806"/>
            <a:ext cx="5395623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Integration Strategy: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Left join between Retail Orders and Public Holidays on Order Date.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Ensured no loss of retail data during integration.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Integration Results: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Total records after integration: 9,994 (unchanged).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Orders on holidays: 450 (4.50%).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Orders on non-holidays: 9,544 (95.50%).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8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Storage Architecture: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Data stored in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SQLite (relational database)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for simplicity, portability, and reproducibility.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Bulk inserts used to maintain data integrity.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Enrichment Fields Added: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Holiday Name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IsHoliday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(True/False)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A85BF04-0419-4987-9866-0EFAF26F1D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8685" y="94636"/>
            <a:ext cx="6161833" cy="6668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401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37DAF-6482-45CD-BF46-1D8FDBC61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RQ1 – Impact of Holidays on Daily Sales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9B4B0-2F2C-4DC7-93EE-A4E8F1636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666" y="2009865"/>
            <a:ext cx="5302858" cy="3876675"/>
          </a:xfrm>
        </p:spPr>
        <p:txBody>
          <a:bodyPr>
            <a:normAutofit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Key-Features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Time period: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Jan 2014 – Jul 2017 (daily orders)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Fluctuations: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Noticeable day-to-day variability in orders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Seasonality: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Higher volumes in certain months (likely holidays/promotions)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Spikes: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Distinct peaks likely linked to special events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en-US" altLang="en-US" sz="1600" b="1" dirty="0">
                <a:latin typeface="Cambria" panose="02040503050406030204" pitchFamily="18" charset="0"/>
                <a:ea typeface="Cambria" panose="02040503050406030204" pitchFamily="18" charset="0"/>
              </a:rPr>
              <a:t>Results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Overall trend: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Generally stable demand with irregular fluctuations</a:t>
            </a:r>
          </a:p>
          <a:p>
            <a:pPr marL="0" indent="0">
              <a:buNone/>
            </a:pP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8079BD-E312-4430-8C3A-F3EE1130F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7343" y="1812873"/>
            <a:ext cx="5962708" cy="3876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599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AD74C-9F77-40E6-9204-321C972E9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5" y="420784"/>
            <a:ext cx="11084117" cy="1325563"/>
          </a:xfrm>
        </p:spPr>
        <p:txBody>
          <a:bodyPr/>
          <a:lstStyle/>
          <a:p>
            <a:pPr algn="ctr"/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RQ2 – Holiday vs Non-Holiday Order Volumes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9AE42-1CCA-4751-BA4D-24CF53C616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613" y="1950706"/>
            <a:ext cx="5785237" cy="435133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1600" b="1" dirty="0">
                <a:latin typeface="Cambria" panose="02040503050406030204" pitchFamily="18" charset="0"/>
                <a:ea typeface="Cambria" panose="02040503050406030204" pitchFamily="18" charset="0"/>
              </a:rPr>
              <a:t>Key Features: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b="1" dirty="0">
                <a:latin typeface="Cambria" panose="02040503050406030204" pitchFamily="18" charset="0"/>
                <a:ea typeface="Cambria" panose="02040503050406030204" pitchFamily="18" charset="0"/>
              </a:rPr>
              <a:t>Boxplot Comparison</a:t>
            </a:r>
            <a:r>
              <a:rPr lang="en-US" sz="1600" dirty="0">
                <a:latin typeface="Cambria" panose="02040503050406030204" pitchFamily="18" charset="0"/>
                <a:ea typeface="Cambria" panose="02040503050406030204" pitchFamily="18" charset="0"/>
              </a:rPr>
              <a:t>: Compares order count on </a:t>
            </a:r>
            <a:r>
              <a:rPr lang="en-US" sz="1600" b="1" dirty="0">
                <a:latin typeface="Cambria" panose="02040503050406030204" pitchFamily="18" charset="0"/>
                <a:ea typeface="Cambria" panose="02040503050406030204" pitchFamily="18" charset="0"/>
              </a:rPr>
              <a:t>Holidays</a:t>
            </a:r>
            <a:r>
              <a:rPr lang="en-US" sz="1600" dirty="0">
                <a:latin typeface="Cambria" panose="02040503050406030204" pitchFamily="18" charset="0"/>
                <a:ea typeface="Cambria" panose="02040503050406030204" pitchFamily="18" charset="0"/>
              </a:rPr>
              <a:t> vs </a:t>
            </a:r>
            <a:r>
              <a:rPr lang="en-US" sz="1600" b="1" dirty="0">
                <a:latin typeface="Cambria" panose="02040503050406030204" pitchFamily="18" charset="0"/>
                <a:ea typeface="Cambria" panose="02040503050406030204" pitchFamily="18" charset="0"/>
              </a:rPr>
              <a:t>Non-Holidays</a:t>
            </a:r>
            <a:r>
              <a:rPr lang="en-US" sz="16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b="1" dirty="0">
                <a:latin typeface="Cambria" panose="02040503050406030204" pitchFamily="18" charset="0"/>
                <a:ea typeface="Cambria" panose="02040503050406030204" pitchFamily="18" charset="0"/>
              </a:rPr>
              <a:t>Order Range</a:t>
            </a:r>
            <a:r>
              <a:rPr lang="en-US" sz="1600" dirty="0">
                <a:latin typeface="Cambria" panose="02040503050406030204" pitchFamily="18" charset="0"/>
                <a:ea typeface="Cambria" panose="02040503050406030204" pitchFamily="18" charset="0"/>
              </a:rPr>
              <a:t>: The y-axis shows order counts, ranging from 0 to 35.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b="1" dirty="0">
                <a:latin typeface="Cambria" panose="02040503050406030204" pitchFamily="18" charset="0"/>
                <a:ea typeface="Cambria" panose="02040503050406030204" pitchFamily="18" charset="0"/>
              </a:rPr>
              <a:t>Outliers</a:t>
            </a:r>
            <a:r>
              <a:rPr lang="en-US" sz="1600" dirty="0">
                <a:latin typeface="Cambria" panose="02040503050406030204" pitchFamily="18" charset="0"/>
                <a:ea typeface="Cambria" panose="02040503050406030204" pitchFamily="18" charset="0"/>
              </a:rPr>
              <a:t>: More outliers (dots) are seen in the non-holiday category.</a:t>
            </a:r>
          </a:p>
          <a:p>
            <a:pPr marL="0" indent="0">
              <a:buNone/>
            </a:pP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sz="1600" b="1" dirty="0">
                <a:latin typeface="Cambria" panose="02040503050406030204" pitchFamily="18" charset="0"/>
                <a:ea typeface="Cambria" panose="02040503050406030204" pitchFamily="18" charset="0"/>
              </a:rPr>
              <a:t>Results: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b="1" dirty="0">
                <a:latin typeface="Cambria" panose="02040503050406030204" pitchFamily="18" charset="0"/>
                <a:ea typeface="Cambria" panose="02040503050406030204" pitchFamily="18" charset="0"/>
              </a:rPr>
              <a:t>Holiday Orders</a:t>
            </a:r>
            <a:r>
              <a:rPr lang="en-US" sz="1600" dirty="0">
                <a:latin typeface="Cambria" panose="02040503050406030204" pitchFamily="18" charset="0"/>
                <a:ea typeface="Cambria" panose="02040503050406030204" pitchFamily="18" charset="0"/>
              </a:rPr>
              <a:t>: Lower median order count (~6), with fewer outliers.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b="1" dirty="0">
                <a:latin typeface="Cambria" panose="02040503050406030204" pitchFamily="18" charset="0"/>
                <a:ea typeface="Cambria" panose="02040503050406030204" pitchFamily="18" charset="0"/>
              </a:rPr>
              <a:t>Non-Holiday Orders</a:t>
            </a:r>
            <a:r>
              <a:rPr lang="en-US" sz="1600" dirty="0">
                <a:latin typeface="Cambria" panose="02040503050406030204" pitchFamily="18" charset="0"/>
                <a:ea typeface="Cambria" panose="02040503050406030204" pitchFamily="18" charset="0"/>
              </a:rPr>
              <a:t>: Higher median order count (~8), with more variation and outliers, indicating more inconsistent order volumes.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ED57A-8A1B-4551-A857-705FFC36B4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9725" y="1950706"/>
            <a:ext cx="5204911" cy="401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72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74AE1-267D-41EB-8FBC-A9F7FB456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b="1" dirty="0">
                <a:latin typeface="Cambria" panose="02040503050406030204" pitchFamily="18" charset="0"/>
                <a:ea typeface="Cambria" panose="02040503050406030204" pitchFamily="18" charset="0"/>
              </a:rPr>
              <a:t>Analysis: Holiday Type Effects (RQ3)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1337F4A-6E32-4D65-81B0-9DC47A69643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0149" y="2214308"/>
            <a:ext cx="5928360" cy="33855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Key Features: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X-axis: Represents different holidays.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Y-axis: Represents the total orders (order volume) placed on each holiday.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Bars: The height of the bars indicates the total number of orders for each holiday.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Results:</a:t>
            </a: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Labour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Day </a:t>
            </a: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has the highest order volume, with more than 80 orders</a:t>
            </a:r>
            <a:r>
              <a:rPr lang="en-US" altLang="en-US" sz="14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  <a:endParaRPr kumimoji="0" lang="en-US" altLang="en-US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Veterans Day follows closely, with around 70 orders.</a:t>
            </a: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Cambria" panose="02040503050406030204" pitchFamily="18" charset="0"/>
                <a:ea typeface="Cambria" panose="02040503050406030204" pitchFamily="18" charset="0"/>
              </a:rPr>
              <a:t>Christmas and Thanksgiving show notable, but lower, order volumes than the top holidays.</a:t>
            </a: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Cambria" panose="02040503050406030204" pitchFamily="18" charset="0"/>
                <a:ea typeface="Cambria" panose="02040503050406030204" pitchFamily="18" charset="0"/>
              </a:rPr>
              <a:t>Order volumes decline from Columbus Day to Presidents Day, with Presidents Day the lowest.</a:t>
            </a:r>
            <a:endParaRPr kumimoji="0" lang="en-US" altLang="en-US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B4A190-F464-43CC-BAE6-46AB75BCD4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8716" y="1952376"/>
            <a:ext cx="5319221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488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D2B47-6A3A-4AC2-B7D1-804982EA2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b="1" dirty="0">
                <a:latin typeface="Cambria" panose="02040503050406030204" pitchFamily="18" charset="0"/>
                <a:ea typeface="Cambria" panose="02040503050406030204" pitchFamily="18" charset="0"/>
              </a:rPr>
              <a:t>Analysis: Predictive Modeling (RQ4)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E733F0C-6554-46E5-A216-261E6E33BD7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81664" y="1862255"/>
            <a:ext cx="5586517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This time-series graph compares actual daily orders (black line) with holiday predictions (red line) from 2014 to 2017. </a:t>
            </a:r>
          </a:p>
          <a:p>
            <a:pPr marL="0" lvl="0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Key </a:t>
            </a:r>
            <a:r>
              <a:rPr lang="en-US" altLang="en-US" sz="1600" b="1" dirty="0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oints </a:t>
            </a: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Actual vs. Predicted: The black line shows actual order counts, while the red line shows predicted orders based on holidays.</a:t>
            </a: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Deviations: Actual orders often exceed predictions, especially during holidays, suggesting unforeseen demand surges.</a:t>
            </a: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Seasonality: The predictions align with holiday patterns, but actual orders show higher-than-expected demand during some periods. </a:t>
            </a:r>
          </a:p>
          <a:p>
            <a:pPr marL="0" lvl="0" indent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Key Insight: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Predictions capture holiday trends but tend to underestimate actual demand, pointing to potential improvements in forecasting models.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59A4DEF-CA0F-46FE-8222-F6FEB9342E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2310" y="1803388"/>
            <a:ext cx="5761066" cy="402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430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238EE-C583-4184-85B6-A5374B831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464" y="365125"/>
            <a:ext cx="5196840" cy="1325563"/>
          </a:xfrm>
        </p:spPr>
        <p:txBody>
          <a:bodyPr/>
          <a:lstStyle/>
          <a:p>
            <a:r>
              <a:rPr lang="en-US" altLang="en-US" b="1" dirty="0">
                <a:latin typeface="Cambria" panose="02040503050406030204" pitchFamily="18" charset="0"/>
                <a:ea typeface="Cambria" panose="02040503050406030204" pitchFamily="18" charset="0"/>
              </a:rPr>
              <a:t>Conclusion &amp; Findings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BE4F9DA-D5CA-4CDD-B9A2-AF6ABC1578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5465" y="1643642"/>
            <a:ext cx="4974202" cy="4770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Conclusion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Primary Driver: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Public holidays are a significant factor influencing daily e-commerce sales patterns.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Summary of Findings: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Holidays significantly affect customer ordering behavior.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Sales volumes are generally higher on holidays.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Certain holidays (i.e</a:t>
            </a:r>
            <a:r>
              <a:rPr lang="en-US" alt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Labour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Day,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Veterans day,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and Christmas) drive the largest spikes.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Incorporating holiday indicators improves predictive accuracy.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455BBD-82E6-4FDF-BC5D-0A9BD95CC7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329" y="71284"/>
            <a:ext cx="6715432" cy="6715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312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D84BB-C118-4858-BECE-A57F672B4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60" y="365125"/>
            <a:ext cx="5601929" cy="1325563"/>
          </a:xfrm>
        </p:spPr>
        <p:txBody>
          <a:bodyPr/>
          <a:lstStyle/>
          <a:p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E74C2-F4C2-4C25-A758-3A324EAC75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260" y="1690688"/>
            <a:ext cx="5601929" cy="3748239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US" sz="1600" dirty="0">
                <a:latin typeface="Cambria" panose="02040503050406030204" pitchFamily="18" charset="0"/>
                <a:ea typeface="Cambria" panose="02040503050406030204" pitchFamily="18" charset="0"/>
              </a:rPr>
              <a:t>References Kaggle. (2017). US Retail Store Sales (2014– 2017). Available at: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u="sng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https://www.kaggle.com/datasets/v1shalsb/us-retail-store-sales-2014 2017-yearly-split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6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600" dirty="0" err="1">
                <a:latin typeface="Cambria" panose="02040503050406030204" pitchFamily="18" charset="0"/>
                <a:ea typeface="Cambria" panose="02040503050406030204" pitchFamily="18" charset="0"/>
              </a:rPr>
              <a:t>Nager.Date</a:t>
            </a:r>
            <a:r>
              <a:rPr lang="en-US" sz="1600" dirty="0">
                <a:latin typeface="Cambria" panose="02040503050406030204" pitchFamily="18" charset="0"/>
                <a:ea typeface="Cambria" panose="02040503050406030204" pitchFamily="18" charset="0"/>
              </a:rPr>
              <a:t> API. (2014–2017). Public Holidays in the United States. Available at: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https://date.nager.at/api/v3/PublicHolidays/2014/us</a:t>
            </a:r>
            <a:endParaRPr lang="en-US" sz="16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u="sng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https://date.nager.at/api/v3/PublicHolidays/2015/us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u="sng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https://date.nager.at/api/v3/PublicHolidays/2016/us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600" u="sng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https://date.nager.at/api/v3/PublicHolidays/2017/us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9AA69A-F7AE-4427-8E49-67E748A1CD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3814" y="246472"/>
            <a:ext cx="5736314" cy="6365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9052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708E40C-94F0-42C4-A306-88585DA5F7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870" y="852231"/>
            <a:ext cx="9976260" cy="4988130"/>
          </a:xfrm>
        </p:spPr>
      </p:pic>
    </p:spTree>
    <p:extLst>
      <p:ext uri="{BB962C8B-B14F-4D97-AF65-F5344CB8AC3E}">
        <p14:creationId xmlns:p14="http://schemas.microsoft.com/office/powerpoint/2010/main" val="3769538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1079</Words>
  <Application>Microsoft Office PowerPoint</Application>
  <PresentationFormat>Widescreen</PresentationFormat>
  <Paragraphs>136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Cambria</vt:lpstr>
      <vt:lpstr>Wingdings</vt:lpstr>
      <vt:lpstr>Office Theme</vt:lpstr>
      <vt:lpstr>PowerPoint Presentation</vt:lpstr>
      <vt:lpstr>Project Overview &amp; Objectives</vt:lpstr>
      <vt:lpstr>Data Acquisition</vt:lpstr>
      <vt:lpstr>Data Profiling &amp; Quality Assessment</vt:lpstr>
      <vt:lpstr>Data Cleaning &amp; Quality Improvement</vt:lpstr>
      <vt:lpstr>Data Integration &amp; Storage</vt:lpstr>
      <vt:lpstr>RQ1 – Impact of Holidays on Daily Sales</vt:lpstr>
      <vt:lpstr>RQ2 – Holiday vs Non-Holiday Order Volumes</vt:lpstr>
      <vt:lpstr>Analysis: Holiday Type Effects (RQ3)</vt:lpstr>
      <vt:lpstr>Analysis: Predictive Modeling (RQ4)</vt:lpstr>
      <vt:lpstr>Conclusion &amp; Findings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Retail Sales and Public Holidays Analysis</dc:title>
  <dc:creator>DELL</dc:creator>
  <cp:lastModifiedBy>a.sami7@campus.unimib.it</cp:lastModifiedBy>
  <cp:revision>29</cp:revision>
  <dcterms:created xsi:type="dcterms:W3CDTF">2026-02-09T19:28:36Z</dcterms:created>
  <dcterms:modified xsi:type="dcterms:W3CDTF">2026-02-21T12:23:48Z</dcterms:modified>
</cp:coreProperties>
</file>