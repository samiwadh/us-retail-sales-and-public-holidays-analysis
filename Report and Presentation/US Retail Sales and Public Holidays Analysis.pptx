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3" r:id="rId3"/>
    <p:sldId id="257" r:id="rId4"/>
    <p:sldId id="264" r:id="rId5"/>
    <p:sldId id="258" r:id="rId6"/>
    <p:sldId id="259" r:id="rId7"/>
    <p:sldId id="260" r:id="rId8"/>
    <p:sldId id="261" r:id="rId9"/>
    <p:sldId id="262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AF7F-70CA-46C9-BC54-7AD5DAC3E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1790D-1AF2-4090-A44A-BB8315046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C534E-3427-46B6-AD85-D62FE9B4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DE63D-D3AD-480D-8646-09F6E00C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BD9A7-AAE4-4C1E-BB36-776C43AD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32DF-3683-4BC2-AC67-3CD127BD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0F8F9-8ED5-45FA-806C-938CCFA62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9F258-D27A-4821-B255-55632CD4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22EAB-24F2-40A0-967F-0608A751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1CAA0-FDFD-4C4D-AC37-B48B8E14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0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85D2-24ED-464A-8D3E-49F14A64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C5EE7-8344-414B-91C2-3D4A08F05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B6202-76C9-4E15-89A6-DF453A34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E9481-E7BE-4339-947C-992347EA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71348-AA36-4857-B84F-4E084CD2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1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7C5A-A60D-4820-A911-6EA3FA4FA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0A0D9-5A56-42A8-927A-136B6D729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2F469-3F71-4841-9C40-28C36FBF9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F6402-1258-4F14-B01B-7E35E2BE3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FD694-8642-43EB-A065-56E18BDB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61D7A-7D7B-4594-8512-92BBF99F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2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C1056-E26D-4943-9C02-C66A8D9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AA480-D2C8-4751-AA19-C8433016E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6AD4-A0E5-4A29-A374-0433BC76C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2D176-2D68-4B3C-9C53-C6E2A454B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A17B8-2EE8-4CF0-92CD-D0677FFA2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D1F97-13B9-450D-BD10-F160864F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F9727-73D1-495E-A906-C94ED578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8E5C2-DC70-46C3-A74B-B4F2B7B1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8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E701-A686-4393-BC4F-B0A252AF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358DD-F53B-4C40-827C-581EAE35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3D14A-F699-44CD-9E76-44F9FFBC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2CA40-F11A-4C2B-B4B7-9560315F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4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7F264-E207-46E9-94F5-E800F681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8E86B-6F1F-4243-ADA8-A4EC20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A4C4A-C93D-42C5-A8C3-2EE42299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7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8C37-237E-4940-9390-0295874C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F14AB-88DC-49CD-901C-C504E315A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B925-207F-4F6B-8011-C06D79E22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1E4DD-6483-471D-85FA-ACC61980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593F3-1F7B-4B90-9EAD-23FEF868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C2BD6-54C9-49F4-8FA5-54B20214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9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54290-1E42-4D1C-BC1F-5FF93A63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B77CD-B6CE-4DC0-925C-3E1BAC498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06897-1DDE-4AD2-8AAE-5C06BC0CB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197D5-6393-4B19-960A-4FE8E9E4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35F46-3159-4F81-8010-99FBA9EC5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1196A-E6C5-44BF-8640-525A3E02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9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36C2-845E-43A6-B949-0599E07C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D6DC8-00F4-4FA0-BCCA-7DBB8E56C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323E9-EA3D-48A4-A61C-3449D2A5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DA8E9-FFCA-483C-96A9-D3593A2E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152DA-6126-4A40-AA3D-7A92D629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7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391384-9B80-4183-ABC3-30027FC78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0F1DB-E6A0-4866-B047-04C1CA6EF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78358-3A9F-48D3-81BC-28DBFAE18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549CA-4163-4CD3-AF89-867C23E6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9F64C-B18B-4169-AF41-DA107B9E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5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2C594-563B-4F83-BCFD-34A72052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55FFC-C157-482A-81EE-DE7BFE174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8CD59-01FE-4E92-B57C-186B9D017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75375-8428-4209-994E-A336BB773D6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0CBC3-3FA3-4CC2-8F59-A43FF56E5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9D280-8020-4F3A-AD91-EA1B782FF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63602-605A-49C0-A9FD-08A8FAD2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s://date.nager.at/api/v3/PublicHolidays/2014/u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7A42CB-4AD9-4D8E-9925-36F6292A868D}"/>
              </a:ext>
            </a:extLst>
          </p:cNvPr>
          <p:cNvSpPr/>
          <p:nvPr/>
        </p:nvSpPr>
        <p:spPr>
          <a:xfrm>
            <a:off x="7114794" y="864055"/>
            <a:ext cx="461970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 Retail Sales &amp; Public Holidays Analysis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2014-2017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61893-DCA4-4328-B2E2-685F0184D969}"/>
              </a:ext>
            </a:extLst>
          </p:cNvPr>
          <p:cNvSpPr/>
          <p:nvPr/>
        </p:nvSpPr>
        <p:spPr>
          <a:xfrm>
            <a:off x="8002816" y="4098771"/>
            <a:ext cx="32762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Management Project 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February 10,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44A30-AE82-409B-BACF-048A4A8311E0}"/>
              </a:ext>
            </a:extLst>
          </p:cNvPr>
          <p:cNvSpPr/>
          <p:nvPr/>
        </p:nvSpPr>
        <p:spPr>
          <a:xfrm>
            <a:off x="7950152" y="5776218"/>
            <a:ext cx="3328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Team Members</a:t>
            </a:r>
          </a:p>
          <a:p>
            <a:r>
              <a:rPr lang="en-US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Abdul Sami   - Mat: 939542 Davina David - Mat: 946851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8C7581-EC67-4649-B470-D9AAECDA9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10" y="137652"/>
            <a:ext cx="6858000" cy="656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4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78B3-1985-4C75-91E0-26EF3A7E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18" y="428500"/>
            <a:ext cx="5101424" cy="132556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Project Overview &amp; 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5AA07-DD11-4D6A-BE18-D6A47C4D9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30" y="1952846"/>
            <a:ext cx="5257799" cy="4351338"/>
          </a:xfrm>
        </p:spPr>
        <p:txBody>
          <a:bodyPr>
            <a:normAutofit fontScale="92500"/>
          </a:bodyPr>
          <a:lstStyle/>
          <a:p>
            <a:pPr marL="57150" lvl="0" indent="-285750" fontAlgn="base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Executive Summary:</a:t>
            </a:r>
            <a:br>
              <a:rPr lang="en-US" dirty="0"/>
            </a:b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Analysis of 9,994 retail orders (2014–2017) integrated with official US public holiday data from the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Nager.Date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API. The study examines how public holidays influence daily e-commerce order volumes and whether holiday information improves predictive forecasting.</a:t>
            </a:r>
          </a:p>
          <a:p>
            <a:pPr marL="0" lvl="0" indent="0" fontAlgn="base">
              <a:spcBef>
                <a:spcPct val="0"/>
              </a:spcBef>
              <a:spcAft>
                <a:spcPts val="600"/>
              </a:spcAft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7150" lvl="0" indent="-285750" fontAlgn="base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Primary Objective:</a:t>
            </a:r>
            <a:br>
              <a:rPr lang="en-US" dirty="0"/>
            </a:b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To quantify how public holidays affect retail order behavior and assess their value in predictive modeling of daily sales.</a:t>
            </a:r>
          </a:p>
          <a:p>
            <a:pPr marL="0" lvl="0" fontAlgn="base">
              <a:spcBef>
                <a:spcPct val="0"/>
              </a:spcBef>
              <a:spcAft>
                <a:spcPts val="600"/>
              </a:spcAft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Key Research Questions: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RQ1: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Do public holidays significantly affect daily e-commerce sales?</a:t>
            </a:r>
          </a:p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RQ2: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Are order volumes higher on holidays compared to non-holidays?</a:t>
            </a:r>
          </a:p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RQ3: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Which US holidays have the greatest impact on ordering patterns?</a:t>
            </a:r>
          </a:p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</a:rPr>
              <a:t>RQ4: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Does including holiday information improve prediction of daily order volumes?</a:t>
            </a:r>
          </a:p>
          <a:p>
            <a:pPr marL="0" lvl="0" indent="0" fontAlgn="base">
              <a:spcBef>
                <a:spcPct val="0"/>
              </a:spcBef>
              <a:spcAft>
                <a:spcPts val="600"/>
              </a:spcAft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BB860-7A05-48B2-8A28-6F6470D2C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331"/>
            <a:ext cx="5959973" cy="662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28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3587-F1F6-4B1D-A8EC-93F393BD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369" y="522011"/>
            <a:ext cx="10515600" cy="132556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FD30-0D44-4F76-AFC8-6884950C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804" y="1984651"/>
            <a:ext cx="5761383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Retail Orders Data: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Four yearly datasets (2014–2017) originally in Excel, later converted to CSV and merged.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Key fields: Order ID, Order Date, Customer ID, Product ID, Sales, Quantity.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Initial scale: 9,994 records.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Public Holiday Data: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Retrieved via the </a:t>
            </a:r>
            <a:r>
              <a:rPr lang="en-US" altLang="en-US" sz="1500" b="1" dirty="0" err="1">
                <a:latin typeface="Cambria" panose="02040503050406030204" pitchFamily="18" charset="0"/>
                <a:ea typeface="Cambria" panose="02040503050406030204" pitchFamily="18" charset="0"/>
              </a:rPr>
              <a:t>Nager.Date</a:t>
            </a:r>
            <a:r>
              <a:rPr lang="en-US" altLang="en-US" sz="1500" b="1" dirty="0">
                <a:latin typeface="Cambria" panose="02040503050406030204" pitchFamily="18" charset="0"/>
                <a:ea typeface="Cambria" panose="02040503050406030204" pitchFamily="18" charset="0"/>
              </a:rPr>
              <a:t> API</a:t>
            </a: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for 2014–2017 (four separate endpoints).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Fields used: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date, name,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countryCode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(US).</a:t>
            </a:r>
            <a:endParaRPr lang="en-US" alt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Combined into a single dataset after extraction.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Processing Environment: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All data processing and analysis conducted in Python using </a:t>
            </a:r>
            <a:r>
              <a:rPr lang="en-US" sz="1500" dirty="0" err="1">
                <a:latin typeface="Cambria" panose="02040503050406030204" pitchFamily="18" charset="0"/>
                <a:ea typeface="Cambria" panose="02040503050406030204" pitchFamily="18" charset="0"/>
              </a:rPr>
              <a:t>Jupyter</a:t>
            </a:r>
            <a:r>
              <a:rPr lang="en-US" sz="1500" dirty="0">
                <a:latin typeface="Cambria" panose="02040503050406030204" pitchFamily="18" charset="0"/>
                <a:ea typeface="Cambria" panose="02040503050406030204" pitchFamily="18" charset="0"/>
              </a:rPr>
              <a:t> Notebooks.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E3D72-73A5-413F-8EDB-FCE286BBF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815" y="103826"/>
            <a:ext cx="5838908" cy="661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7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DEE4-F51C-4E97-9294-02A6D712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689" y="754739"/>
            <a:ext cx="5104738" cy="1325563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Profiling &amp; Quality Assessment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5D4FE0-2D88-4230-95B5-B36CA06601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6538" y="2197229"/>
            <a:ext cx="4931539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Retail Orders Dataset: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9,994 total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 missing values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 duplicate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Holidays Dataset: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60 unique holiday dates initially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0 missing values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 duplicate dates detected (13.33%)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Quality Dimensions Assessed: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Completeness: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Checked using 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isnull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().sum()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Uniqueness: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Verified using .duplicated().sum()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Validity: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Ensured correct data types using 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dtypes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pd.to_datetime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Consistency: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Ensured alignment between Order Date and Holiday Date for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6AC115-822D-4F31-87E4-1DFCA47C7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6917"/>
            <a:ext cx="5959084" cy="66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D11D-D3BC-41F3-AD2E-8830C2D5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33" y="333955"/>
            <a:ext cx="5241814" cy="159527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Cleaning &amp; Quality Improvement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85B8C5-6623-4FE8-8D8D-A9452880BA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224" y="2432415"/>
            <a:ext cx="5101423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File Consolidation: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Four yearly (2013-2017) retail files merged into one dataset (9,994 rows).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Four holiday API responses combined into a single CSV.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Duplicate Handling &amp; Missing Values: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Retail Orders: No duplicates, no missing values.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Holidays: 8 duplicate dates removed → 52 unique holiday 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Standardization: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Converted all dates to datetime64[ns].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Created a binary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IsHoliday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column for standardized labeling.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Renamed columns for consistency (e.g., date → Holiday Date).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60706-0FA1-408C-B92D-55BB59B2F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8658"/>
            <a:ext cx="6009220" cy="669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7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441B-0304-4D59-ACEB-EE81B4DE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073" y="321243"/>
            <a:ext cx="5395623" cy="1325563"/>
          </a:xfrm>
        </p:spPr>
        <p:txBody>
          <a:bodyPr>
            <a:normAutofit/>
          </a:bodyPr>
          <a:lstStyle/>
          <a:p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Integration &amp; Storage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4E0908-7F12-40D3-A675-20B2895CA0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074" y="1646806"/>
            <a:ext cx="539562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Integration Strategy: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Left join between Retail Orders and Public Holidays on Order Date.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Ensured no loss of retail data during integration.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Integration Results: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Total records after integration: 9,994 (unchanged).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Orders on holidays: 450 (4.50%).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Orders on non-holidays: 9,544 (95.50%).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Storage Architecture: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 stored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SQLite (relational database)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for simplicity, portability, and reproducibility.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Bulk inserts used to maintain data integrity.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Enrichment Fields Added: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Holiday Name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IsHoliday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(True/False)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5BF04-0419-4987-9866-0EFAF26F1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685" y="94636"/>
            <a:ext cx="6161833" cy="666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0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37DAF-6482-45CD-BF46-1D8FDBC6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RQ1 – Impact of Holidays on Daily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B4B0-2F2C-4DC7-93EE-A4E8F1636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666" y="2009865"/>
            <a:ext cx="5302858" cy="3876675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Key-Features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Time period: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Jan 2014 – Jul 2017 (daily orders)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Fluctuations: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Noticeable day-to-day variability in orders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Seasonality: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Higher volumes in certain months (likely holidays/promotions)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Spikes: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Distinct peaks likely linked to special events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Overall trend: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Generally stable demand with irregular fluctuations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8079BD-E312-4430-8C3A-F3EE1130F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43" y="1812873"/>
            <a:ext cx="5962708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9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D74C-9F77-40E6-9204-321C972E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420784"/>
            <a:ext cx="11084117" cy="1325563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RQ2 – Holiday vs Non-Holiday Order Volumes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9AE42-1CCA-4751-BA4D-24CF53C61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13" y="1950706"/>
            <a:ext cx="578523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Key Features: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Boxplot Comparison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Compares order count on 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Holidays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 vs 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Non-Holidays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Order Range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The y-axis shows order counts, ranging from 0 to 35.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Outliers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More outliers (dots) are seen in the non-holiday category.</a:t>
            </a:r>
          </a:p>
          <a:p>
            <a:pPr marL="0" indent="0"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Results: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Holiday Orders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Lower median order count (~6), with fewer outliers.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Non-Holiday Orders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: Higher median order count (~8), with more variation and outliers, indicating more inconsistent order volumes.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ED57A-8A1B-4551-A857-705FFC36B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725" y="1950706"/>
            <a:ext cx="5204911" cy="401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7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4AE1-267D-41EB-8FBC-A9F7FB45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Analysis: Holiday Type Effects (RQ3)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337F4A-6E32-4D65-81B0-9DC47A6964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149" y="2214308"/>
            <a:ext cx="592836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 Features: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X-axis: Represents different holidays.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Y-axis: Represents the total orders (order volume) placed on each holiday.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Bars: The height of the bars indicates the total number of orders for each holiday.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Results: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Labour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Day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has the highest order volume, with more than 80 orders</a:t>
            </a:r>
            <a:r>
              <a:rPr lang="en-US" alt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Veterans Day follows closely, with around 70 orders.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Christmas and Thanksgiving show notable, but lower, order volumes than the top holidays.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Order volumes decline from Columbus Day to Presidents Day, with Presidents Day the lowest.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4A190-F464-43CC-BAE6-46AB75BCD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716" y="1952376"/>
            <a:ext cx="5319221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88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D2B47-6A3A-4AC2-B7D1-804982EA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Analysis: Predictive Modeling (RQ4)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733F0C-6554-46E5-A216-261E6E33B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664" y="1862255"/>
            <a:ext cx="558651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This time-series graph compares actual daily orders (black line) with holiday predictions (red line) from 2014 to 2017.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 </a:t>
            </a:r>
            <a:r>
              <a:rPr lang="en-US" alt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oints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Actual vs. Predicted: The black line shows actual order counts, while the red line shows predicted orders based on holidays.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Deviations: Actual orders often exceed predictions, especially during holidays, suggesting unforeseen demand surges.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Seasonality: The predictions align with holiday patterns, but actual orders show higher-than-expected demand during some periods.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 Insight: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Predictions capture holiday trends but tend to underestimate actual demand, pointing to potential improvements in forecasting models.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9A4DEF-CA0F-46FE-8222-F6FEB9342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310" y="1803388"/>
            <a:ext cx="5761066" cy="402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3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38EE-C583-4184-85B6-A5374B83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464" y="365125"/>
            <a:ext cx="5196840" cy="1325563"/>
          </a:xfrm>
        </p:spPr>
        <p:txBody>
          <a:bodyPr/>
          <a:lstStyle/>
          <a:p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Conclusion &amp; Findings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E4F9DA-D5CA-4CDD-B9A2-AF6ABC1578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5465" y="1643642"/>
            <a:ext cx="497420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Primary Driver: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Public holidays are a significant factor influencing daily e-commerce sales patterns.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Summary of Findings: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Holidays significantly affect customer ordering behavior.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Sales volumes are generally higher on holidays.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Certain holidays (i.e</a:t>
            </a: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Labour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Day,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Veterans day,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Christmas) drive the largest spikes.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Incorporating holiday indicators improves predictive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455BBD-82E6-4FDF-BC5D-0A9BD95CC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329" y="71284"/>
            <a:ext cx="6715432" cy="671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1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84BB-C118-4858-BECE-A57F672B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60" y="365125"/>
            <a:ext cx="5601929" cy="132556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74C2-F4C2-4C25-A758-3A324EAC7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60" y="1690688"/>
            <a:ext cx="5601929" cy="374823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References Kaggle. (2017). US Retail Store Sales (2014– 2017). Available at: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https://www.kaggle.com/datasets/v1shalsb/us-retail-store-sales-2014 2017-yearly-split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Nager.Date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API. (2014–2017). Public Holidays in the United States. Available at: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https://date.nager.at/api/v3/PublicHolidays/2014/us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https://date.nager.at/api/v3/PublicHolidays/2015/us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https://date.nager.at/api/v3/PublicHolidays/2016/us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https://date.nager.at/api/v3/PublicHolidays/2017/us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AA69A-F7AE-4427-8E49-67E748A1C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814" y="246472"/>
            <a:ext cx="5736314" cy="636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05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708E40C-94F0-42C4-A306-88585DA5F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70" y="852231"/>
            <a:ext cx="9976260" cy="4988130"/>
          </a:xfrm>
        </p:spPr>
      </p:pic>
    </p:spTree>
    <p:extLst>
      <p:ext uri="{BB962C8B-B14F-4D97-AF65-F5344CB8AC3E}">
        <p14:creationId xmlns:p14="http://schemas.microsoft.com/office/powerpoint/2010/main" val="3769538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1092</Words>
  <Application>Microsoft Office PowerPoint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Project Overview &amp; Objectives</vt:lpstr>
      <vt:lpstr>Data Acquisition</vt:lpstr>
      <vt:lpstr>Data Profiling &amp; Quality Assessment</vt:lpstr>
      <vt:lpstr>Data Cleaning &amp; Quality Improvement</vt:lpstr>
      <vt:lpstr>Data Integration &amp; Storage</vt:lpstr>
      <vt:lpstr>RQ1 – Impact of Holidays on Daily Sales</vt:lpstr>
      <vt:lpstr>RQ2 – Holiday vs Non-Holiday Order Volumes</vt:lpstr>
      <vt:lpstr>Analysis: Holiday Type Effects (RQ3)</vt:lpstr>
      <vt:lpstr>Analysis: Predictive Modeling (RQ4)</vt:lpstr>
      <vt:lpstr>Conclusion &amp; Findings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Retail Sales and Public Holidays Analysis</dc:title>
  <dc:creator>DELL</dc:creator>
  <cp:lastModifiedBy>a.sami7@campus.unimib.it</cp:lastModifiedBy>
  <cp:revision>28</cp:revision>
  <dcterms:created xsi:type="dcterms:W3CDTF">2026-02-09T19:28:36Z</dcterms:created>
  <dcterms:modified xsi:type="dcterms:W3CDTF">2026-02-10T12:18:52Z</dcterms:modified>
</cp:coreProperties>
</file>